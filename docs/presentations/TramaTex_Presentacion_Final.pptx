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E6B8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marp: true</a:t>
            </a:r>
          </a:p>
          <a:p>
            <a:r>
              <a:t>theme: default</a:t>
            </a:r>
          </a:p>
          <a:p>
            <a:r>
              <a:t>paginate: true</a:t>
            </a:r>
          </a:p>
          <a:p>
            <a:r>
              <a:t>style: |</a:t>
            </a:r>
          </a:p>
          <a:p>
            <a:r>
              <a:t>  section {</a:t>
            </a:r>
          </a:p>
          <a:p>
            <a:r>
              <a:t>    font-family: 'Inter', sans-serif;</a:t>
            </a:r>
          </a:p>
          <a:p>
            <a:r>
              <a:t>    background-color: #f1f5f9;</a:t>
            </a:r>
          </a:p>
          <a:p>
            <a:r>
              <a:t>    color: #1e293b;</a:t>
            </a:r>
          </a:p>
          <a:p>
            <a:r>
              <a:t>    font-size: 24px;</a:t>
            </a:r>
          </a:p>
          <a:p>
            <a:r>
              <a:t>  }</a:t>
            </a:r>
          </a:p>
          <a:p>
            <a:r>
              <a:t>  h1, h2 {</a:t>
            </a:r>
          </a:p>
          <a:p>
            <a:r>
              <a:t>    color: #002395;</a:t>
            </a:r>
          </a:p>
          <a:p>
            <a:r>
              <a:t>    font-family: 'Inter', sans-serif;</a:t>
            </a:r>
          </a:p>
          <a:p>
            <a:r>
              <a:t>    font-weight: 800;</a:t>
            </a:r>
          </a:p>
          <a:p>
            <a:r>
              <a:t>  }</a:t>
            </a:r>
          </a:p>
          <a:p>
            <a:r>
              <a:t>  h1 { font-size: 1.8em; border-bottom: 4px solid #E6B800; padding-bottom: 10px; }</a:t>
            </a:r>
          </a:p>
          <a:p>
            <a:r>
              <a:t>  h2 { font-size: 1.4em; }</a:t>
            </a:r>
          </a:p>
          <a:p>
            <a:r>
              <a:t>  strong { color: #002395; }</a:t>
            </a:r>
          </a:p>
          <a:p>
            <a:r>
              <a:t>  .brand { font-family: 'Calibri', sans-serif; font-style: italic; font-weight: bold; color: #002395; }</a:t>
            </a:r>
          </a:p>
          <a:p>
            <a:r>
              <a:t>  .bg-primary { background-color: #002395; color: white; }</a:t>
            </a:r>
          </a:p>
          <a:p>
            <a:r>
              <a:t>  .bg-primary h1 { color: #E6B800; border-color: #E6B800; }</a:t>
            </a:r>
          </a:p>
          <a:p>
            <a:r>
              <a:t>  .card {</a:t>
            </a:r>
          </a:p>
          <a:p>
            <a:r>
              <a:t>    background: white;</a:t>
            </a:r>
          </a:p>
          <a:p>
            <a:r>
              <a:t>    border-radius: 8px;</a:t>
            </a:r>
          </a:p>
          <a:p>
            <a:r>
              <a:t>    padding: 20px;</a:t>
            </a:r>
          </a:p>
          <a:p>
            <a:r>
              <a:t>    box-shadow: 0 4px 6px rgba(0,0,0,0.05);</a:t>
            </a:r>
          </a:p>
          <a:p>
            <a:r>
              <a:t>    border-left: 5px solid #E6B800;</a:t>
            </a:r>
          </a:p>
          <a:p>
            <a:r>
              <a:t>  }</a:t>
            </a:r>
          </a:p>
          <a:p>
            <a:r>
              <a:t>  .accent { color: #E6B800; font-weight: bold; }</a:t>
            </a:r>
          </a:p>
          <a:p>
            <a:r>
              <a:t>  footer, header { color: #64748b; font-size: 12px;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&lt;span class="brand"&gt;TramaTex&lt;/span&gt;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La solución inteligente de gestión para la microempresa textil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Cerrar la Brecha Digital: Herramienta adaptada a recursos limitados.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Organización Integral: Gestión centralizada de clientes y producción.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Impulso al Crecimiento: Optimización de procesos y trazabilidad total.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🚀 Visión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Innovación en el Sector Textil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Visión: Sistema líder para PYMES de vestuario laboral y EPIs.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Especialización: Personalización y marcación de prendas.</a:t>
            </a:r>
          </a:p>
          <a:p>
            <a:pPr>
              <a:defRPr sz="1800" i="0"/>
            </a:pPr>
          </a:p>
          <a:p>
            <a:pPr>
              <a:defRPr sz="1800" i="1"/>
            </a:pPr>
            <a:r>
              <a:t>El Desafío: Superar la ineficiencia de procesos manuales y sistemas genéricos costosos mediante una arquitectura `local-first` eficiente.</a:t>
            </a:r>
          </a:p>
          <a:p>
            <a:pPr>
              <a:defRPr sz="1800" i="0"/>
            </a:pPr>
          </a:p>
          <a:p>
            <a:pPr>
              <a:defRPr sz="1800" i="0"/>
            </a:pPr>
            <a:r>
              <a:t>Objetivo: Integrar ventas, tarificación inteligente y producción (MES) en un flujo único.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📊 Dashboard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Gestión Centralizada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Interfaz moderna y minimalista.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Acceso instantáneo a métricas críticas.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Diseñado para la agilidad operativa.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1800" i="1"/>
            </a:pPr>
            <a:r>
              <a:t>Valor Añadido:</a:t>
            </a:r>
          </a:p>
          <a:p>
            <a:pPr>
              <a:defRPr sz="1800" i="0"/>
            </a:pPr>
            <a:r>
              <a:t>Módulos de Clientes, Catálogo, Ventas y Producción a un solo click de distancia.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👥 Módulo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Gestión de Terceros: Enfoque Unificado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Entidad Única: Clientes y proveedores bajo el concepto de `Party`.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Roles Dinámicos: Sin duplicidad de datos; una entidad puede ser ambos.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Perfiles: Soporte para empresas (Organizaciones) y Personas.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Relaciones: Gestión de matrices y múltiples contactos.</a:t>
            </a:r>
          </a:p>
          <a:p>
            <a:pPr>
              <a:defRPr sz="1800" i="0"/>
            </a:pPr>
            <a:r>
              <a:t>Beneficio: Consistencia total en el histórico de transacciones.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👕 Módulo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Catálogo Inteligente y Variantes Dinámicas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Configurabilidad: Atributos flexibles (tallas, colores, materiales).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Variantes JIT: Creación automática según demanda (Just-In-Time).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Organización: Clasificación por marcas, familias y grupos.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Precisión: Base sólida para cálculo de costes y producción.</a:t>
            </a:r>
          </a:p>
          <a:p>
            <a:pPr>
              <a:defRPr sz="1800" i="0"/>
            </a:pPr>
          </a:p>
          <a:p>
            <a:pPr>
              <a:defRPr sz="1800" i="0"/>
            </a:pPr>
            <a:r>
              <a:t>Manejo sencillo de catálogos complejos de alta rotación sin carga manual masiva.</a:t>
            </a:r>
          </a:p>
          <a:p>
            <a:pPr>
              <a:defRPr sz="1800" i="0"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💰 Módulo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Del Presupuesto a la Factura: Ciclo Total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Ciclo de Vida: Cotizaciones → Pedidos → Albaranes → Facturas.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Trazabilidad: Transiciones automáticas manteniendo el rastro.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Flexibilidad: Soporte para tickets retail y facturación simplificada.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Control de Precios: Motor inteligente con ajustes supervisados.</a:t>
            </a:r>
          </a:p>
          <a:p>
            <a:pPr>
              <a:defRPr sz="1800" i="0"/>
            </a:pPr>
            <a:r>
              <a:t>Resultado: Cero errores en facturación y visión clara de cada pedido.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🏭 Módulo 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Taller y Producción: El Corazón Operativo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Órdenes de Producción: Transformación automática desde pedidos de venta.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Monitorización: Seguimiento en tiempo real en centros de trabajo.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Calidad: Registro de verificaciones en cada etapa.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Sincronización: Conexión directa oficina-taller.</a:t>
            </a:r>
          </a:p>
          <a:p>
            <a:pPr>
              <a:defRPr sz="1800" i="0"/>
            </a:pPr>
          </a:p>
          <a:p>
            <a:pPr>
              <a:defRPr sz="1800" i="0"/>
            </a:pPr>
            <a:r>
              <a:t>Optimización de tiempos de entrega y reducción de errores en personalizaciones.</a:t>
            </a:r>
          </a:p>
          <a:p>
            <a:pPr>
              <a:defRPr sz="1800" i="0"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🗓️ Hitos y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Realidad Actual y Evolución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1800" i="0"/>
            </a:pPr>
            <a:r>
              <a:t> ✅ MVP (Completado)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Core: Clientes, Productos, Precios.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Ventas y Gestión de Taller (MES).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Seguridad y accesos robustos.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1800" i="0"/>
            </a:pPr>
            <a:r>
              <a:t> 🚀 Hoja de Ruta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BI: Cuadros de mando avanzados.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Notificaciones: WebSockets en tiempo real.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Expansión: Compras, Logística y Contabilidad.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🛠️ Ingeniería de Clase Mundial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Robustez Tecnológica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Arquitectura Modular: Dominios independientes para estabilidad y crecimiento.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Clean Architecture: Lógica de negocio protegida de cambios tecnológicos.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Domain-Driven Design: El software habla el lenguaje del negocio textil.</a:t>
            </a:r>
          </a:p>
          <a:p>
            <a:pPr>
              <a:defRPr sz="1800" i="0"/>
            </a:pPr>
            <a:r>
              <a:t>Garantía de longevidad y mantenibilidad del software.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Backend: Potencia y Eficiencia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1800" i="0"/>
            </a:pPr>
            <a:r>
              <a:t>PostgreSQL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Alto Rendimiento: Procesamiento ultra-rápido.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Estabilidad: Binario único, arranque instantáneo.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Concurrencia: Gestión nativa de procesos simultáneos.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Integridad: Seguridad total de la información financiera.</a:t>
            </a:r>
          </a:p>
          <a:p>
            <a:pPr>
              <a:defRPr sz="1800" i="0"/>
            </a:pPr>
          </a:p>
          <a:p>
            <a:pPr>
              <a:defRPr sz="1800" i="0"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🎨 Experiencia de Usuario (Vue.js)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Frontend: Agilidad y Modernidad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Tecnología: Vue.js 3 + TypeScript + Tailwind CSS.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Interactividad: Interfaz reactiva para mayor productividad.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Consistencia: Sistema de diseño unificado (Design System).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Adaptabilidad: Estaciones de trabajo y terminales de taller.</a:t>
            </a:r>
          </a:p>
          <a:p>
            <a:pPr>
              <a:defRPr sz="1800" i="0"/>
            </a:pPr>
            <a:r>
              <a:t>Calidad: Tipado estricto que elimina errores de interfaz.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📦 Simplicidad y Despliegue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Filosofía Local-First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Independencia: Operación 100% local (privacidad y sin internet).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Eficiencia: Optimizado para hardware modesto.</a:t>
            </a:r>
          </a:p>
          <a:p>
            <a:pPr>
              <a:defRPr sz="1800" i="0"/>
            </a:pPr>
            <a:r>
              <a:t> Facilidad de Gestión: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Docker: Despliegue estandarizado y actualizaciones sin fricción.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Mantenimiento: Diseñado para mínima intervención técnica.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395"/>
                </a:solidFill>
              </a:defRPr>
            </a:pPr>
            <a:r>
              <a:t>🏗️ Estandarización de 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i="0"/>
            </a:pPr>
            <a:r>
              <a:t> Scaffolding: Innovación Acelerada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Estandarización: Estructura profesional lista desde el día 1.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Calidad: Pipeline de pruebas y documentación automática.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Velocidad: Reducción drástica del "Time-to-Market" de nuevos módulos.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Consistencia: Alineación total con los estándares de TramaTex.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6198"/>
            <a:ext cx="2743200" cy="4572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E6B800"/>
                </a:solidFill>
              </a:defRPr>
            </a:pPr>
            <a:r>
              <a:t>TramaTex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## Preparados para el Siguiente Nivel</a:t>
            </a:r>
          </a:p>
          <a:p>
            <a:r>
              <a:t>Solución ERP/MES específica para el sector textil.</a:t>
            </a:r>
          </a:p>
          <a:p>
            <a:r>
              <a:t>Arquitectura moderna, estable y escalable.</a:t>
            </a:r>
          </a:p>
          <a:p>
            <a:r>
              <a:t>Disciplina de ingeniería para un producto de alto rendimiento.</a:t>
            </a:r>
          </a:p>
          <a:p>
            <a:r>
              <a:t>&lt;div style="margin-top: 40px; font-size: 0.8em; color: #E6B800;"&gt;</a:t>
            </a:r>
          </a:p>
          <a:p>
            <a:r>
              <a:t>TramaTex: El aliado tecnológico definitivo.</a:t>
            </a:r>
          </a:p>
          <a:p>
            <a:r>
              <a:t>&lt;/div&gt;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